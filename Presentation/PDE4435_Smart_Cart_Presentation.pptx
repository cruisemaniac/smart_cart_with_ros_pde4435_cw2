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12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0F24D38-B79E-44B4-830E-043F45D9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49" y="620742"/>
            <a:ext cx="7943849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Autonomous Smart Cart with ROS 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469874-256B-45B3-A79C-7591B4BA1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2266345"/>
            <a:ext cx="3823335" cy="3910617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>
                <a:solidFill>
                  <a:srgbClr val="FFFFFF"/>
                </a:solidFill>
              </a:rPr>
              <a:t>Team Members (MISIS):</a:t>
            </a:r>
          </a:p>
          <a:p>
            <a:pPr marL="45720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>
                <a:solidFill>
                  <a:srgbClr val="FFFFFF"/>
                </a:solidFill>
              </a:rPr>
              <a:t>Ashwin Murali Thanalapati (M01037932)</a:t>
            </a:r>
          </a:p>
          <a:p>
            <a:pPr marL="45720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>
                <a:solidFill>
                  <a:srgbClr val="FFFFFF"/>
                </a:solidFill>
              </a:rPr>
              <a:t>Mohammed Shalaby (M01035318)</a:t>
            </a:r>
          </a:p>
          <a:p>
            <a:pPr marL="45720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>
                <a:solidFill>
                  <a:srgbClr val="FFFFFF"/>
                </a:solidFill>
              </a:rPr>
              <a:t>Jayashanka Anushan (M01037028)</a:t>
            </a:r>
          </a:p>
          <a:p>
            <a:pPr marL="45720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>
                <a:solidFill>
                  <a:srgbClr val="FFFFFF"/>
                </a:solidFill>
              </a:rPr>
              <a:t>Vignesh Lakshmanasamy (M01026685)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AB0CC-0C66-E45A-FB4D-97A2880BAAA5}"/>
              </a:ext>
            </a:extLst>
          </p:cNvPr>
          <p:cNvSpPr txBox="1"/>
          <p:nvPr/>
        </p:nvSpPr>
        <p:spPr>
          <a:xfrm>
            <a:off x="4692015" y="2266345"/>
            <a:ext cx="3823335" cy="39106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>
                <a:solidFill>
                  <a:srgbClr val="FFFFFF"/>
                </a:solidFill>
              </a:rPr>
              <a:t>PDE4435 - Robotic System Integration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Problem Statement, Background, Motivation,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200"/>
            </a:pPr>
            <a:r>
              <a:rPr lang="en-US" sz="1600"/>
              <a:t>This project aims to solve unsafe and effort-heavy shopping cart use in crowded retail aisles that will bring safer, easier, and more efficient shopping.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600"/>
              <a:t>Background: conventional carts require continuous manual force and have no intelligent safety layer.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600"/>
              <a:t>Motivation: reduce physical strain (elderly/parents) and reduce minor collisions in dense pedestrian flow.</a:t>
            </a:r>
          </a:p>
          <a:p>
            <a:pPr>
              <a:lnSpc>
                <a:spcPct val="90000"/>
              </a:lnSpc>
              <a:defRPr sz="2200"/>
            </a:pPr>
            <a:r>
              <a:rPr lang="en-US" sz="1600"/>
              <a:t>Goals: robust follow-me at 1.0 m, obstacle-safe motion, and integrated ROS 2 simulation for validation.</a:t>
            </a:r>
          </a:p>
        </p:txBody>
      </p:sp>
      <p:pic>
        <p:nvPicPr>
          <p:cNvPr id="5" name="Picture 4" descr="Line of grocery carts">
            <a:extLst>
              <a:ext uri="{FF2B5EF4-FFF2-40B4-BE49-F238E27FC236}">
                <a16:creationId xmlns:a16="http://schemas.microsoft.com/office/drawing/2014/main" id="{F3908CC9-6323-9843-BC9F-0DB8F462CE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30" r="13119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535CC04E-1DA1-8EB4-4D4E-D88B880FBD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r="25000" b="-446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3116868" cy="5571898"/>
          </a:xfrm>
        </p:spPr>
        <p:txBody>
          <a:bodyPr>
            <a:normAutofit/>
          </a:bodyPr>
          <a:lstStyle/>
          <a:p>
            <a:r>
              <a:rPr lang="en-GB" sz="4100" dirty="0">
                <a:solidFill>
                  <a:srgbClr val="FFFFFF"/>
                </a:solidFill>
              </a:rPr>
              <a:t>Solution Overview (Architecture)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9914" y="557189"/>
            <a:ext cx="4625434" cy="5571898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2200"/>
            </a:pPr>
            <a:r>
              <a:rPr lang="en-GB" sz="1700">
                <a:solidFill>
                  <a:srgbClr val="FFFFFF"/>
                </a:solidFill>
              </a:rPr>
              <a:t>Platform:</a:t>
            </a:r>
          </a:p>
          <a:p>
            <a:pPr>
              <a:defRPr sz="2200"/>
            </a:pPr>
            <a:r>
              <a:rPr lang="en-GB" sz="1700">
                <a:solidFill>
                  <a:srgbClr val="FFFFFF"/>
                </a:solidFill>
              </a:rPr>
              <a:t> ROS 2 Jazzy + Gazebo Harmonic</a:t>
            </a:r>
          </a:p>
          <a:p>
            <a:pPr marL="0" indent="0">
              <a:buNone/>
              <a:defRPr sz="2200"/>
            </a:pPr>
            <a:r>
              <a:rPr lang="en-GB" sz="1700">
                <a:solidFill>
                  <a:srgbClr val="FFFFFF"/>
                </a:solidFill>
              </a:rPr>
              <a:t>Architecture:</a:t>
            </a:r>
          </a:p>
          <a:p>
            <a:pPr>
              <a:defRPr sz="2200"/>
            </a:pPr>
            <a:r>
              <a:rPr lang="en-GB" sz="1700">
                <a:solidFill>
                  <a:srgbClr val="FFFFFF"/>
                </a:solidFill>
              </a:rPr>
              <a:t>- Multi-node system using ROS2 topics</a:t>
            </a:r>
          </a:p>
          <a:p>
            <a:pPr>
              <a:defRPr sz="2200"/>
            </a:pPr>
            <a:endParaRPr lang="en-GB" sz="1700">
              <a:solidFill>
                <a:srgbClr val="FFFFFF"/>
              </a:solidFill>
            </a:endParaRPr>
          </a:p>
          <a:p>
            <a:pPr marL="0" indent="0">
              <a:buNone/>
              <a:defRPr sz="2200"/>
            </a:pPr>
            <a:r>
              <a:rPr lang="en-GB" sz="1700">
                <a:solidFill>
                  <a:srgbClr val="FFFFFF"/>
                </a:solidFill>
              </a:rPr>
              <a:t>Key Modules:</a:t>
            </a:r>
          </a:p>
          <a:p>
            <a:pPr>
              <a:defRPr sz="2200"/>
            </a:pPr>
            <a:r>
              <a:rPr lang="en-GB" sz="1700">
                <a:solidFill>
                  <a:srgbClr val="FFFFFF"/>
                </a:solidFill>
              </a:rPr>
              <a:t>- UWB Simulation → provides position data</a:t>
            </a:r>
          </a:p>
          <a:p>
            <a:pPr>
              <a:defRPr sz="2200"/>
            </a:pPr>
            <a:r>
              <a:rPr lang="en-GB" sz="1700">
                <a:solidFill>
                  <a:srgbClr val="FFFFFF"/>
                </a:solidFill>
              </a:rPr>
              <a:t>- Follow Node → estimates position &amp; smooths data</a:t>
            </a:r>
          </a:p>
          <a:p>
            <a:pPr>
              <a:defRPr sz="2200"/>
            </a:pPr>
            <a:r>
              <a:rPr lang="en-GB" sz="1700">
                <a:solidFill>
                  <a:srgbClr val="FFFFFF"/>
                </a:solidFill>
              </a:rPr>
              <a:t>- Obstacle Node → ensures safety and speed control</a:t>
            </a:r>
          </a:p>
          <a:p>
            <a:pPr>
              <a:defRPr sz="2200"/>
            </a:pPr>
            <a:r>
              <a:rPr lang="en-GB" sz="1700">
                <a:solidFill>
                  <a:srgbClr val="FFFFFF"/>
                </a:solidFill>
              </a:rPr>
              <a:t>- Navigation Logic → manages robot behavior (Idle, Follow, Stop)</a:t>
            </a:r>
          </a:p>
          <a:p>
            <a:pPr>
              <a:defRPr sz="2200"/>
            </a:pPr>
            <a:endParaRPr lang="en-GB" sz="1700">
              <a:solidFill>
                <a:srgbClr val="FFFFFF"/>
              </a:solidFill>
            </a:endParaRPr>
          </a:p>
          <a:p>
            <a:pPr marL="0" indent="0">
              <a:buNone/>
              <a:defRPr sz="2200"/>
            </a:pPr>
            <a:r>
              <a:rPr lang="en-GB" sz="1700">
                <a:solidFill>
                  <a:srgbClr val="FFFFFF"/>
                </a:solidFill>
              </a:rPr>
              <a:t>Output:</a:t>
            </a:r>
          </a:p>
          <a:p>
            <a:pPr>
              <a:defRPr sz="2200"/>
            </a:pPr>
            <a:r>
              <a:rPr lang="en-GB" sz="1700">
                <a:solidFill>
                  <a:srgbClr val="FFFFFF"/>
                </a:solidFill>
              </a:rPr>
              <a:t>- Final motion command published to /cmd_vel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06213-AEDB-46FE-DD75-A7C15342A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US" sz="4200" dirty="0">
                <a:solidFill>
                  <a:srgbClr val="FFFFFF"/>
                </a:solidFill>
              </a:rPr>
              <a:t>Team members contribution</a:t>
            </a:r>
            <a:endParaRPr lang="en-GB" sz="4200" dirty="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68968-3517-C987-5C23-EA1F14B2A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1300" b="1" dirty="0">
                <a:solidFill>
                  <a:schemeClr val="tx1">
                    <a:alpha val="80000"/>
                  </a:schemeClr>
                </a:solidFill>
              </a:rPr>
              <a:t>Vignesh – Robot Design &amp; Simulation</a:t>
            </a:r>
          </a:p>
          <a:p>
            <a:pPr>
              <a:lnSpc>
                <a:spcPct val="90000"/>
              </a:lnSpc>
            </a:pPr>
            <a:r>
              <a:rPr lang="en-GB" sz="1300" dirty="0">
                <a:solidFill>
                  <a:schemeClr val="tx1">
                    <a:alpha val="80000"/>
                  </a:schemeClr>
                </a:solidFill>
              </a:rPr>
              <a:t>Designed CAD model (SolidWorks) </a:t>
            </a:r>
          </a:p>
          <a:p>
            <a:pPr>
              <a:lnSpc>
                <a:spcPct val="90000"/>
              </a:lnSpc>
            </a:pPr>
            <a:r>
              <a:rPr lang="en-GB" sz="1300" dirty="0">
                <a:solidFill>
                  <a:schemeClr val="tx1">
                    <a:alpha val="80000"/>
                  </a:schemeClr>
                </a:solidFill>
              </a:rPr>
              <a:t>Converted model to URDF </a:t>
            </a:r>
          </a:p>
          <a:p>
            <a:pPr>
              <a:lnSpc>
                <a:spcPct val="90000"/>
              </a:lnSpc>
            </a:pPr>
            <a:r>
              <a:rPr lang="en-GB" sz="1300" dirty="0">
                <a:solidFill>
                  <a:schemeClr val="tx1">
                    <a:alpha val="80000"/>
                  </a:schemeClr>
                </a:solidFill>
              </a:rPr>
              <a:t>Developed Gazebo simulation environment </a:t>
            </a:r>
          </a:p>
          <a:p>
            <a:pPr>
              <a:lnSpc>
                <a:spcPct val="90000"/>
              </a:lnSpc>
            </a:pPr>
            <a:r>
              <a:rPr lang="en-GB" sz="1300" dirty="0">
                <a:solidFill>
                  <a:schemeClr val="tx1">
                    <a:alpha val="80000"/>
                  </a:schemeClr>
                </a:solidFill>
              </a:rPr>
              <a:t>Integrated LiDAR sensor </a:t>
            </a:r>
          </a:p>
          <a:p>
            <a:pPr marL="0" indent="0">
              <a:lnSpc>
                <a:spcPct val="90000"/>
              </a:lnSpc>
              <a:buNone/>
            </a:pPr>
            <a:endParaRPr lang="en-GB" sz="13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1300" b="1" dirty="0">
                <a:solidFill>
                  <a:schemeClr val="tx1">
                    <a:alpha val="80000"/>
                  </a:schemeClr>
                </a:solidFill>
              </a:rPr>
              <a:t>Jay – Control &amp; Navigation</a:t>
            </a:r>
          </a:p>
          <a:p>
            <a:pPr>
              <a:lnSpc>
                <a:spcPct val="90000"/>
              </a:lnSpc>
            </a:pPr>
            <a:r>
              <a:rPr lang="en-GB" sz="1300" dirty="0">
                <a:solidFill>
                  <a:schemeClr val="tx1">
                    <a:alpha val="80000"/>
                  </a:schemeClr>
                </a:solidFill>
              </a:rPr>
              <a:t>Implemented motion control (/</a:t>
            </a:r>
            <a:r>
              <a:rPr lang="en-GB" sz="1300" dirty="0" err="1">
                <a:solidFill>
                  <a:schemeClr val="tx1">
                    <a:alpha val="80000"/>
                  </a:schemeClr>
                </a:solidFill>
              </a:rPr>
              <a:t>cmd_vel</a:t>
            </a:r>
            <a:r>
              <a:rPr lang="en-GB" sz="1300" dirty="0">
                <a:solidFill>
                  <a:schemeClr val="tx1">
                    <a:alpha val="80000"/>
                  </a:schemeClr>
                </a:solidFill>
              </a:rPr>
              <a:t>) </a:t>
            </a:r>
          </a:p>
          <a:p>
            <a:pPr>
              <a:lnSpc>
                <a:spcPct val="90000"/>
              </a:lnSpc>
            </a:pPr>
            <a:r>
              <a:rPr lang="en-GB" sz="1300" dirty="0">
                <a:solidFill>
                  <a:schemeClr val="tx1">
                    <a:alpha val="80000"/>
                  </a:schemeClr>
                </a:solidFill>
              </a:rPr>
              <a:t>Developed follow behaviour logic </a:t>
            </a:r>
          </a:p>
          <a:p>
            <a:pPr>
              <a:lnSpc>
                <a:spcPct val="90000"/>
              </a:lnSpc>
            </a:pPr>
            <a:r>
              <a:rPr lang="en-GB" sz="1300" dirty="0">
                <a:solidFill>
                  <a:schemeClr val="tx1">
                    <a:alpha val="80000"/>
                  </a:schemeClr>
                </a:solidFill>
              </a:rPr>
              <a:t>Designed navigation state machine (Idle, Follow, Stop) 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GB" sz="1300" dirty="0">
                <a:solidFill>
                  <a:schemeClr val="tx1">
                    <a:alpha val="80000"/>
                  </a:schemeClr>
                </a:solidFill>
              </a:rPr>
            </a:br>
            <a:endParaRPr lang="en-GB" sz="13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1300" b="1" dirty="0">
                <a:solidFill>
                  <a:schemeClr val="tx1">
                    <a:alpha val="80000"/>
                  </a:schemeClr>
                </a:solidFill>
              </a:rPr>
              <a:t>Ashwin – Sensors &amp; Communication</a:t>
            </a:r>
          </a:p>
          <a:p>
            <a:pPr>
              <a:lnSpc>
                <a:spcPct val="90000"/>
              </a:lnSpc>
            </a:pPr>
            <a:r>
              <a:rPr lang="en-GB" sz="1300" dirty="0">
                <a:solidFill>
                  <a:schemeClr val="tx1">
                    <a:alpha val="80000"/>
                  </a:schemeClr>
                </a:solidFill>
              </a:rPr>
              <a:t>Developed UWB simulation </a:t>
            </a:r>
          </a:p>
          <a:p>
            <a:pPr>
              <a:lnSpc>
                <a:spcPct val="90000"/>
              </a:lnSpc>
            </a:pPr>
            <a:r>
              <a:rPr lang="en-GB" sz="1300" dirty="0">
                <a:solidFill>
                  <a:schemeClr val="tx1">
                    <a:alpha val="80000"/>
                  </a:schemeClr>
                </a:solidFill>
              </a:rPr>
              <a:t>Implemented position estimation (trilateration + filtering) </a:t>
            </a:r>
          </a:p>
          <a:p>
            <a:pPr>
              <a:lnSpc>
                <a:spcPct val="90000"/>
              </a:lnSpc>
            </a:pPr>
            <a:r>
              <a:rPr lang="en-GB" sz="1300" dirty="0">
                <a:solidFill>
                  <a:schemeClr val="tx1">
                    <a:alpha val="80000"/>
                  </a:schemeClr>
                </a:solidFill>
              </a:rPr>
              <a:t>Managed ROS2–Gazebo communication (bridge) </a:t>
            </a:r>
          </a:p>
          <a:p>
            <a:pPr marL="0" indent="0">
              <a:lnSpc>
                <a:spcPct val="90000"/>
              </a:lnSpc>
              <a:buNone/>
            </a:pPr>
            <a:br>
              <a:rPr lang="en-GB" sz="1300" dirty="0">
                <a:solidFill>
                  <a:schemeClr val="tx1">
                    <a:alpha val="80000"/>
                  </a:schemeClr>
                </a:solidFill>
              </a:rPr>
            </a:br>
            <a:endParaRPr lang="en-GB" sz="13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1300" b="1" dirty="0">
                <a:solidFill>
                  <a:schemeClr val="tx1">
                    <a:alpha val="80000"/>
                  </a:schemeClr>
                </a:solidFill>
              </a:rPr>
              <a:t>Shalaby – Documentation &amp; Presentation</a:t>
            </a:r>
          </a:p>
          <a:p>
            <a:pPr>
              <a:lnSpc>
                <a:spcPct val="90000"/>
              </a:lnSpc>
            </a:pPr>
            <a:r>
              <a:rPr lang="en-GB" sz="1300" dirty="0">
                <a:solidFill>
                  <a:schemeClr val="tx1">
                    <a:alpha val="80000"/>
                  </a:schemeClr>
                </a:solidFill>
              </a:rPr>
              <a:t>Structured project report </a:t>
            </a:r>
          </a:p>
          <a:p>
            <a:pPr>
              <a:lnSpc>
                <a:spcPct val="90000"/>
              </a:lnSpc>
            </a:pPr>
            <a:r>
              <a:rPr lang="en-GB" sz="1300" dirty="0">
                <a:solidFill>
                  <a:schemeClr val="tx1">
                    <a:alpha val="80000"/>
                  </a:schemeClr>
                </a:solidFill>
              </a:rPr>
              <a:t>Managed requirement traceability </a:t>
            </a:r>
          </a:p>
          <a:p>
            <a:pPr>
              <a:lnSpc>
                <a:spcPct val="90000"/>
              </a:lnSpc>
            </a:pPr>
            <a:r>
              <a:rPr lang="en-GB" sz="1300" dirty="0">
                <a:solidFill>
                  <a:schemeClr val="tx1">
                    <a:alpha val="80000"/>
                  </a:schemeClr>
                </a:solidFill>
              </a:rPr>
              <a:t>Prepared test documentation </a:t>
            </a:r>
          </a:p>
          <a:p>
            <a:pPr>
              <a:lnSpc>
                <a:spcPct val="90000"/>
              </a:lnSpc>
            </a:pPr>
            <a:r>
              <a:rPr lang="en-GB" sz="1300" dirty="0">
                <a:solidFill>
                  <a:schemeClr val="tx1">
                    <a:alpha val="80000"/>
                  </a:schemeClr>
                </a:solidFill>
              </a:rPr>
              <a:t>Developed presentation materials</a:t>
            </a:r>
          </a:p>
          <a:p>
            <a:pPr>
              <a:lnSpc>
                <a:spcPct val="90000"/>
              </a:lnSpc>
            </a:pPr>
            <a:endParaRPr lang="en-GB" sz="13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2372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4293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3125451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591344"/>
            <a:ext cx="2400300" cy="5585619"/>
          </a:xfrm>
        </p:spPr>
        <p:txBody>
          <a:bodyPr>
            <a:normAutofit/>
          </a:bodyPr>
          <a:lstStyle/>
          <a:p>
            <a:r>
              <a:rPr lang="en-US" sz="3400" b="1" dirty="0">
                <a:solidFill>
                  <a:srgbClr val="FFFFFF"/>
                </a:solidFill>
              </a:rPr>
              <a:t>Key Advantages of Our Solution</a:t>
            </a:r>
            <a:br>
              <a:rPr lang="en-US" sz="3400" b="1" dirty="0">
                <a:solidFill>
                  <a:srgbClr val="FFFFFF"/>
                </a:solidFill>
              </a:rPr>
            </a:br>
            <a:endParaRPr lang="en-US" sz="3400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GB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500" b="1" dirty="0"/>
              <a:t>Layered Safety</a:t>
            </a:r>
          </a:p>
          <a:p>
            <a:pPr>
              <a:lnSpc>
                <a:spcPct val="90000"/>
              </a:lnSpc>
            </a:pPr>
            <a:r>
              <a:rPr lang="en-GB" sz="1500" dirty="0"/>
              <a:t>Combines </a:t>
            </a:r>
            <a:r>
              <a:rPr lang="en-GB" sz="1500" b="1" dirty="0"/>
              <a:t>long-range tracking (UWB)</a:t>
            </a:r>
            <a:br>
              <a:rPr lang="en-GB" sz="1500" dirty="0"/>
            </a:br>
            <a:r>
              <a:rPr lang="en-GB" sz="1500" dirty="0"/>
              <a:t>with </a:t>
            </a:r>
            <a:r>
              <a:rPr lang="en-GB" sz="1500" b="1" dirty="0"/>
              <a:t>short-range obstacle detection (LiDAR)</a:t>
            </a:r>
            <a:r>
              <a:rPr lang="en-GB" sz="1500" dirty="0"/>
              <a:t> </a:t>
            </a:r>
          </a:p>
          <a:p>
            <a:pPr>
              <a:lnSpc>
                <a:spcPct val="90000"/>
              </a:lnSpc>
            </a:pPr>
            <a:r>
              <a:rPr lang="en-GB" sz="1500" dirty="0"/>
              <a:t>Safer than single-sensor systems </a:t>
            </a:r>
          </a:p>
          <a:p>
            <a:pPr marL="0" indent="0">
              <a:lnSpc>
                <a:spcPct val="90000"/>
              </a:lnSpc>
              <a:buNone/>
            </a:pPr>
            <a:endParaRPr lang="en-GB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500" b="1" dirty="0"/>
              <a:t>Fast Response</a:t>
            </a:r>
          </a:p>
          <a:p>
            <a:pPr>
              <a:lnSpc>
                <a:spcPct val="90000"/>
              </a:lnSpc>
            </a:pPr>
            <a:r>
              <a:rPr lang="en-GB" sz="1500" dirty="0"/>
              <a:t>End-to-end control latency ≈ </a:t>
            </a:r>
            <a:r>
              <a:rPr lang="en-GB" sz="1500" b="1" dirty="0"/>
              <a:t>5 </a:t>
            </a:r>
            <a:r>
              <a:rPr lang="en-GB" sz="1500" b="1" dirty="0" err="1"/>
              <a:t>ms</a:t>
            </a:r>
            <a:r>
              <a:rPr lang="en-GB" sz="1500" b="1" dirty="0"/>
              <a:t> (simulation)</a:t>
            </a:r>
            <a:r>
              <a:rPr lang="en-GB" sz="1500" dirty="0"/>
              <a:t> </a:t>
            </a:r>
          </a:p>
          <a:p>
            <a:pPr>
              <a:lnSpc>
                <a:spcPct val="90000"/>
              </a:lnSpc>
            </a:pPr>
            <a:r>
              <a:rPr lang="en-GB" sz="1500" dirty="0"/>
              <a:t>Enables real-time robot reaction </a:t>
            </a:r>
          </a:p>
          <a:p>
            <a:pPr marL="0" indent="0">
              <a:lnSpc>
                <a:spcPct val="90000"/>
              </a:lnSpc>
              <a:buNone/>
            </a:pPr>
            <a:endParaRPr lang="en-GB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500" b="1" dirty="0"/>
              <a:t>Stable Tracking</a:t>
            </a:r>
          </a:p>
          <a:p>
            <a:pPr>
              <a:lnSpc>
                <a:spcPct val="90000"/>
              </a:lnSpc>
            </a:pPr>
            <a:r>
              <a:rPr lang="en-GB" sz="1500" dirty="0"/>
              <a:t>Kalman filter improves UWB accuracy </a:t>
            </a:r>
          </a:p>
          <a:p>
            <a:pPr>
              <a:lnSpc>
                <a:spcPct val="90000"/>
              </a:lnSpc>
            </a:pPr>
            <a:r>
              <a:rPr lang="en-GB" sz="1500" dirty="0"/>
              <a:t>Position error reduced by </a:t>
            </a:r>
            <a:r>
              <a:rPr lang="en-GB" sz="1500" b="1" dirty="0"/>
              <a:t>~35–40%</a:t>
            </a:r>
            <a:r>
              <a:rPr lang="en-GB" sz="1500" dirty="0"/>
              <a:t> </a:t>
            </a:r>
          </a:p>
          <a:p>
            <a:pPr marL="0" indent="0">
              <a:lnSpc>
                <a:spcPct val="90000"/>
              </a:lnSpc>
              <a:buNone/>
            </a:pPr>
            <a:endParaRPr lang="en-GB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500" b="1" dirty="0"/>
              <a:t>Modular Design</a:t>
            </a:r>
          </a:p>
          <a:p>
            <a:pPr>
              <a:lnSpc>
                <a:spcPct val="90000"/>
              </a:lnSpc>
            </a:pPr>
            <a:r>
              <a:rPr lang="en-GB" sz="1500" dirty="0"/>
              <a:t>Built using ROS2 nodes </a:t>
            </a:r>
          </a:p>
          <a:p>
            <a:pPr>
              <a:lnSpc>
                <a:spcPct val="90000"/>
              </a:lnSpc>
            </a:pPr>
            <a:r>
              <a:rPr lang="en-GB" sz="1500" dirty="0"/>
              <a:t>Easy to extend (SLAM, ML, real robot)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GB" sz="3850" b="1"/>
              <a:t>System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br>
              <a:rPr lang="en-GB" sz="1600" dirty="0"/>
            </a:br>
            <a:r>
              <a:rPr lang="en-GB" sz="1600" b="1" dirty="0"/>
              <a:t>Demo Highlights</a:t>
            </a:r>
          </a:p>
          <a:p>
            <a:pPr>
              <a:lnSpc>
                <a:spcPct val="90000"/>
              </a:lnSpc>
            </a:pPr>
            <a:r>
              <a:rPr lang="en-GB" sz="1600" dirty="0"/>
              <a:t>Robot successfully spawned in Gazebo environment </a:t>
            </a:r>
          </a:p>
          <a:p>
            <a:pPr>
              <a:lnSpc>
                <a:spcPct val="90000"/>
              </a:lnSpc>
            </a:pPr>
            <a:r>
              <a:rPr lang="en-GB" sz="1600" dirty="0"/>
              <a:t>Real-time movement using teleoperation (/</a:t>
            </a:r>
            <a:r>
              <a:rPr lang="en-GB" sz="1600" dirty="0" err="1"/>
              <a:t>cmd_vel</a:t>
            </a:r>
            <a:r>
              <a:rPr lang="en-GB" sz="1600" dirty="0"/>
              <a:t>) </a:t>
            </a:r>
          </a:p>
          <a:p>
            <a:pPr>
              <a:lnSpc>
                <a:spcPct val="90000"/>
              </a:lnSpc>
            </a:pPr>
            <a:r>
              <a:rPr lang="en-GB" sz="1600" dirty="0"/>
              <a:t>LiDAR scan visualization in RViz (/scan) </a:t>
            </a:r>
          </a:p>
          <a:p>
            <a:pPr>
              <a:lnSpc>
                <a:spcPct val="90000"/>
              </a:lnSpc>
            </a:pPr>
            <a:r>
              <a:rPr lang="en-GB" sz="1600" dirty="0"/>
              <a:t>Autonomous obstacle avoidance behaviour </a:t>
            </a:r>
          </a:p>
          <a:p>
            <a:pPr marL="0" indent="0">
              <a:lnSpc>
                <a:spcPct val="90000"/>
              </a:lnSpc>
              <a:buNone/>
            </a:pPr>
            <a:endParaRPr lang="en-GB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600" b="1" dirty="0"/>
              <a:t>What to Observe</a:t>
            </a:r>
          </a:p>
          <a:p>
            <a:pPr>
              <a:lnSpc>
                <a:spcPct val="90000"/>
              </a:lnSpc>
            </a:pPr>
            <a:r>
              <a:rPr lang="en-GB" sz="1600" dirty="0"/>
              <a:t>Smooth robot motion and control response </a:t>
            </a:r>
          </a:p>
          <a:p>
            <a:pPr>
              <a:lnSpc>
                <a:spcPct val="90000"/>
              </a:lnSpc>
            </a:pPr>
            <a:r>
              <a:rPr lang="en-GB" sz="1600" dirty="0"/>
              <a:t>Real-time sensor data updates </a:t>
            </a:r>
          </a:p>
          <a:p>
            <a:pPr>
              <a:lnSpc>
                <a:spcPct val="90000"/>
              </a:lnSpc>
            </a:pPr>
            <a:r>
              <a:rPr lang="en-GB" sz="1600" dirty="0"/>
              <a:t>Robot reacting to obstacles and changing direction</a:t>
            </a:r>
          </a:p>
          <a:p>
            <a:pPr>
              <a:lnSpc>
                <a:spcPct val="90000"/>
              </a:lnSpc>
              <a:defRPr sz="2200"/>
            </a:pPr>
            <a:endParaRPr lang="en-GB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7238AA8C-F247-8AC5-4B7B-E31CF691A5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GB" sz="4300" b="1"/>
              <a:t>Testing Results &amp; Evaluation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1300" b="1" dirty="0"/>
              <a:t>Successes</a:t>
            </a:r>
          </a:p>
          <a:p>
            <a:pPr>
              <a:lnSpc>
                <a:spcPct val="90000"/>
              </a:lnSpc>
            </a:pPr>
            <a:r>
              <a:rPr lang="en-GB" sz="1300" b="1" dirty="0"/>
              <a:t>Accurate Following</a:t>
            </a:r>
            <a:r>
              <a:rPr lang="en-GB" sz="13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GB" sz="1300" dirty="0"/>
              <a:t>Distance: </a:t>
            </a:r>
            <a:r>
              <a:rPr lang="en-GB" sz="1300" b="1" dirty="0"/>
              <a:t>1.04 ± 0.08 m</a:t>
            </a:r>
            <a:r>
              <a:rPr lang="en-GB" sz="13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GB" sz="1300" dirty="0"/>
              <a:t>Target: </a:t>
            </a:r>
            <a:r>
              <a:rPr lang="en-GB" sz="1300" b="1" dirty="0"/>
              <a:t>1.0 ± 0.15 m</a:t>
            </a:r>
            <a:r>
              <a:rPr lang="en-GB" sz="1300" dirty="0"/>
              <a:t> </a:t>
            </a:r>
          </a:p>
          <a:p>
            <a:pPr>
              <a:lnSpc>
                <a:spcPct val="90000"/>
              </a:lnSpc>
            </a:pPr>
            <a:r>
              <a:rPr lang="en-GB" sz="1300" b="1" dirty="0"/>
              <a:t>Reliable Localization</a:t>
            </a:r>
            <a:r>
              <a:rPr lang="en-GB" sz="13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GB" sz="1300" dirty="0"/>
              <a:t>UWB error &lt; </a:t>
            </a:r>
            <a:r>
              <a:rPr lang="en-GB" sz="1300" b="1" dirty="0"/>
              <a:t>0.30 m</a:t>
            </a:r>
            <a:r>
              <a:rPr lang="en-GB" sz="13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GB" sz="1300" dirty="0"/>
              <a:t>After Kalman filter: </a:t>
            </a:r>
            <a:r>
              <a:rPr lang="en-GB" sz="1300" b="1" dirty="0"/>
              <a:t>~0.07–0.13 m</a:t>
            </a:r>
            <a:r>
              <a:rPr lang="en-GB" sz="1300" dirty="0"/>
              <a:t> </a:t>
            </a:r>
          </a:p>
          <a:p>
            <a:pPr>
              <a:lnSpc>
                <a:spcPct val="90000"/>
              </a:lnSpc>
            </a:pPr>
            <a:r>
              <a:rPr lang="en-GB" sz="1300" b="1" dirty="0"/>
              <a:t>Safe Obstacle Handling</a:t>
            </a:r>
            <a:r>
              <a:rPr lang="en-GB" sz="13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GB" sz="1300" dirty="0"/>
              <a:t>Emergency stop at </a:t>
            </a:r>
            <a:r>
              <a:rPr lang="en-GB" sz="1300" b="1" dirty="0"/>
              <a:t>0.27 ± 0.03 m</a:t>
            </a:r>
            <a:r>
              <a:rPr lang="en-GB" sz="13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GB" sz="1300" dirty="0"/>
              <a:t>No collisions observed </a:t>
            </a:r>
            <a:br>
              <a:rPr lang="en-GB" sz="1300" dirty="0"/>
            </a:br>
            <a:endParaRPr lang="en-GB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300" b="1" dirty="0"/>
              <a:t>Limitations</a:t>
            </a:r>
          </a:p>
          <a:p>
            <a:pPr>
              <a:lnSpc>
                <a:spcPct val="90000"/>
              </a:lnSpc>
            </a:pPr>
            <a:r>
              <a:rPr lang="en-GB" sz="1300" dirty="0"/>
              <a:t>Slight overshoot during sharp turns </a:t>
            </a:r>
          </a:p>
          <a:p>
            <a:pPr>
              <a:lnSpc>
                <a:spcPct val="90000"/>
              </a:lnSpc>
            </a:pPr>
            <a:r>
              <a:rPr lang="en-GB" sz="1300" dirty="0"/>
              <a:t>Reduced accuracy at longer distances</a:t>
            </a:r>
          </a:p>
          <a:p>
            <a:pPr marL="0" indent="0">
              <a:lnSpc>
                <a:spcPct val="90000"/>
              </a:lnSpc>
              <a:buNone/>
            </a:pPr>
            <a:endParaRPr lang="en-GB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GB" sz="4300" b="1"/>
              <a:t>Conclusion &amp; Future Work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b="1" dirty="0"/>
              <a:t>Conclusion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Core objectives successfully achieved in simulation 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Reliable </a:t>
            </a:r>
            <a:r>
              <a:rPr lang="en-US" sz="1300" b="1" dirty="0"/>
              <a:t>follow-me </a:t>
            </a:r>
            <a:r>
              <a:rPr lang="en-US" sz="1300" b="1" dirty="0" err="1"/>
              <a:t>behaviour</a:t>
            </a:r>
            <a:r>
              <a:rPr lang="en-US" sz="1300" dirty="0"/>
              <a:t> with stable tracking </a:t>
            </a:r>
          </a:p>
          <a:p>
            <a:pPr>
              <a:lnSpc>
                <a:spcPct val="90000"/>
              </a:lnSpc>
            </a:pPr>
            <a:r>
              <a:rPr lang="en-US" sz="1300" b="1" dirty="0"/>
              <a:t>Layered safety system</a:t>
            </a:r>
            <a:r>
              <a:rPr lang="en-US" sz="1300" dirty="0"/>
              <a:t> ensured collision-free operation 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Low-latency control enabled responsive robot movement </a:t>
            </a:r>
          </a:p>
          <a:p>
            <a:pPr>
              <a:lnSpc>
                <a:spcPct val="90000"/>
              </a:lnSpc>
            </a:pPr>
            <a:br>
              <a:rPr lang="en-US" sz="1300" dirty="0"/>
            </a:b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b="1" dirty="0"/>
              <a:t>Comparison with Goals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Tracking accuracy within target range ✅ 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System latency met real-time requirements ✅ 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Obstacle detection and safety performed reliably ✅ </a:t>
            </a:r>
          </a:p>
          <a:p>
            <a:pPr>
              <a:lnSpc>
                <a:spcPct val="90000"/>
              </a:lnSpc>
            </a:pPr>
            <a:br>
              <a:rPr lang="en-US" sz="1300" dirty="0"/>
            </a:b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b="1" dirty="0"/>
              <a:t>Future Work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Real-world hardware implementation 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Improve </a:t>
            </a:r>
            <a:r>
              <a:rPr lang="en-US" sz="1300" dirty="0" err="1"/>
              <a:t>localisation</a:t>
            </a:r>
            <a:r>
              <a:rPr lang="en-US" sz="1300" dirty="0"/>
              <a:t> under multipath conditions 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Integrate camera + ML for enhanced interaction 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Enhance human–robot interaction (HRI) feedback </a:t>
            </a:r>
          </a:p>
          <a:p>
            <a:pPr>
              <a:lnSpc>
                <a:spcPct val="90000"/>
              </a:lnSpc>
            </a:pPr>
            <a:br>
              <a:rPr lang="en-US" sz="1300" dirty="0"/>
            </a:b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b="1" dirty="0"/>
              <a:t>Reflection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Modular ROS2 design simplified debugging and testing 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Sensor integration improved system robustness 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Iterative simulation helped refine system performance</a:t>
            </a:r>
          </a:p>
          <a:p>
            <a:pPr>
              <a:lnSpc>
                <a:spcPct val="90000"/>
              </a:lnSpc>
              <a:defRPr sz="2200"/>
            </a:pP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287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12488"/>
            <a:ext cx="2174391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641" y="1412489"/>
            <a:ext cx="2570462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2200"/>
            </a:pPr>
            <a:r>
              <a:rPr lang="en-US" sz="1700"/>
              <a:t>Ashwin Murali Thanalapati (M01037932) </a:t>
            </a:r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2200"/>
            </a:pPr>
            <a:r>
              <a:rPr lang="en-US" sz="1700"/>
              <a:t>Mohammed Shalaby (M01035318) </a:t>
            </a:r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2200"/>
            </a:pPr>
            <a:r>
              <a:rPr lang="en-US" sz="1700"/>
              <a:t>Jayashanka Anushan (M01037028)</a:t>
            </a:r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2200"/>
            </a:pPr>
            <a:r>
              <a:rPr lang="en-US" sz="1700"/>
              <a:t>Vignesh Lakshmanasamy (M01026685)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403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DDBD8FA-0BD8-744D-0FB0-0A9104B004CA}"/>
              </a:ext>
            </a:extLst>
          </p:cNvPr>
          <p:cNvSpPr txBox="1"/>
          <p:nvPr/>
        </p:nvSpPr>
        <p:spPr>
          <a:xfrm>
            <a:off x="6338703" y="1412489"/>
            <a:ext cx="2398275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605</Words>
  <Application>Microsoft Office PowerPoint</Application>
  <PresentationFormat>On-screen Show (4:3)</PresentationFormat>
  <Paragraphs>119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Autonomous Smart Cart with ROS 2</vt:lpstr>
      <vt:lpstr>Problem Statement, Background, Motivation, Goals</vt:lpstr>
      <vt:lpstr>Solution Overview (Architecture)</vt:lpstr>
      <vt:lpstr>Team members contribution</vt:lpstr>
      <vt:lpstr>Key Advantages of Our Solution </vt:lpstr>
      <vt:lpstr>System Demonstration</vt:lpstr>
      <vt:lpstr>Testing Results &amp; Evaluation</vt:lpstr>
      <vt:lpstr>Conclusion &amp; Future Work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Vignesh Lakshmanasamy</dc:creator>
  <cp:keywords/>
  <dc:description>generated using python-pptx</dc:description>
  <cp:lastModifiedBy>Vignesh Lakshmanasamy</cp:lastModifiedBy>
  <cp:revision>5</cp:revision>
  <dcterms:created xsi:type="dcterms:W3CDTF">2013-01-27T09:14:16Z</dcterms:created>
  <dcterms:modified xsi:type="dcterms:W3CDTF">2026-04-28T12:07:30Z</dcterms:modified>
  <cp:category/>
</cp:coreProperties>
</file>